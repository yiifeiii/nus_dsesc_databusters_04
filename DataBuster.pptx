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Roboto Mono"/>
      <p:regular r:id="rId27"/>
      <p:bold r:id="rId28"/>
      <p:italic r:id="rId29"/>
      <p:boldItalic r:id="rId30"/>
    </p:embeddedFont>
    <p:embeddedFont>
      <p:font typeface="Merriweather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ED1E5F-F709-464F-AE79-A868952F3EB6}">
  <a:tblStyle styleId="{B0ED1E5F-F709-464F-AE79-A868952F3EB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erriweather-regular.fntdata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5.xml"/><Relationship Id="rId33" Type="http://schemas.openxmlformats.org/officeDocument/2006/relationships/font" Target="fonts/Merriweather-italic.fntdata"/><Relationship Id="rId10" Type="http://schemas.openxmlformats.org/officeDocument/2006/relationships/slide" Target="slides/slide4.xml"/><Relationship Id="rId32" Type="http://schemas.openxmlformats.org/officeDocument/2006/relationships/font" Target="fonts/Merriweather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Merriweather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33bc28af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33bc28af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3bc28afe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3bc28afe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3bc28afe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33bc28afe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3072628856_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3072628856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Descriptive Statistics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Count:</a:t>
            </a:r>
            <a:r>
              <a:rPr lang="en-GB">
                <a:solidFill>
                  <a:schemeClr val="dk1"/>
                </a:solidFill>
              </a:rPr>
              <a:t> We have data for 132 observations across all variables.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Mean:</a:t>
            </a:r>
            <a:r>
              <a:rPr lang="en-GB">
                <a:solidFill>
                  <a:schemeClr val="dk1"/>
                </a:solidFill>
              </a:rPr>
              <a:t> Shows the average value for each variable over the period.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Standard Deviation:</a:t>
            </a:r>
            <a:r>
              <a:rPr lang="en-GB">
                <a:solidFill>
                  <a:schemeClr val="dk1"/>
                </a:solidFill>
              </a:rPr>
              <a:t> Indicates the extent of variability or dispersion in the data.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Minimum and Maximum:</a:t>
            </a:r>
            <a:r>
              <a:rPr lang="en-GB">
                <a:solidFill>
                  <a:schemeClr val="dk1"/>
                </a:solidFill>
              </a:rPr>
              <a:t> Highlight the range within which the observations fall.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Percentiles (25th, 50th, 75th):</a:t>
            </a:r>
            <a:r>
              <a:rPr lang="en-GB">
                <a:solidFill>
                  <a:schemeClr val="dk1"/>
                </a:solidFill>
              </a:rPr>
              <a:t> Offer insights into the distribution of data points, dividing them into quarters.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3072628856_5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3072628856_5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072628856_5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072628856_5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3072628856_4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3072628856_4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07262885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307262885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3bc28afe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3bc28afe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3bc28afe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33bc28afe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Positive linear relationship with GDPC1 → shows the same trend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072628856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3072628856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072628856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3072628856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3072628856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3072628856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3072628856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3072628856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33bc28afe1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33bc28afe1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DataBuster Team 04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50"/>
            <a:ext cx="35790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Alyssa Cheong, Shannon Kwok, Vanisha Muthu, Wang Yifei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Descriptive statistics </a:t>
            </a:r>
            <a:endParaRPr/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100" y="118925"/>
            <a:ext cx="3870700" cy="20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311725" y="1779025"/>
            <a:ext cx="3127500" cy="27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>
                <a:solidFill>
                  <a:schemeClr val="lt1"/>
                </a:solidFill>
              </a:rPr>
              <a:t>GDP shows a growing trend.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>
                <a:solidFill>
                  <a:schemeClr val="lt1"/>
                </a:solidFill>
              </a:rPr>
              <a:t>The strong periodic fluctuations suggest a significant seasonal effect in GDP, possibly due to quarterly or yearly economic cycles.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>
                <a:solidFill>
                  <a:schemeClr val="lt1"/>
                </a:solidFill>
              </a:rPr>
              <a:t>Residuals or noises after removing trend and seasonality centered at 0. 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>
                <a:solidFill>
                  <a:schemeClr val="lt1"/>
                </a:solidFill>
              </a:rPr>
              <a:t>GDP needs to be stationarised before building of our model.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7826" y="2231140"/>
            <a:ext cx="3470976" cy="2617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Descriptive statistics 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170325" y="1505700"/>
            <a:ext cx="43416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We selected a variables including unemployment rate, Industrial Production index and Housing Starts Total and </a:t>
            </a:r>
            <a:r>
              <a:rPr lang="en-GB" sz="1500"/>
              <a:t>plotted</a:t>
            </a:r>
            <a:r>
              <a:rPr lang="en-GB" sz="1500"/>
              <a:t> heat map to explore the correlation between them. </a:t>
            </a:r>
            <a:endParaRPr sz="1500"/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For variables such as GS1, GS10, BAA and AAA are closely correlated with each other. </a:t>
            </a:r>
            <a:endParaRPr sz="1500"/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However, some of the variables do not show strong correlation to GDP. </a:t>
            </a:r>
            <a:endParaRPr sz="1500"/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These suggest that transformation of variables is necessary before deeper analysis. </a:t>
            </a:r>
            <a:endParaRPr sz="1500"/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0200" y="1353225"/>
            <a:ext cx="4200263" cy="371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Descriptive statistics 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The left Autocorrelation measures the correlation between GDP and its past lags. </a:t>
            </a:r>
            <a:endParaRPr sz="1400"/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The plot shows a </a:t>
            </a:r>
            <a:r>
              <a:rPr lang="en-GB" sz="1400"/>
              <a:t>slow</a:t>
            </a:r>
            <a:r>
              <a:rPr lang="en-GB" sz="1400"/>
              <a:t> decay in autocorrelation values, however the values are highly positive, which suggests that GDP is non-stationary. </a:t>
            </a:r>
            <a:endParaRPr sz="1400"/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The right partial autocorrelation function shows the direct effect of past values on the present GDP.</a:t>
            </a:r>
            <a:endParaRPr sz="1400"/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It shows that the first and second lags are highly significant, meaning GDP at time t is strongly affected by the immediate past values. </a:t>
            </a:r>
            <a:endParaRPr sz="1400"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0200" y="1810425"/>
            <a:ext cx="4527600" cy="2552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7"/>
          <p:cNvPicPr preferRelativeResize="0"/>
          <p:nvPr/>
        </p:nvPicPr>
        <p:blipFill rotWithShape="1">
          <a:blip r:embed="rId3">
            <a:alphaModFix/>
          </a:blip>
          <a:srcRect b="29148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" name="Google Shape;93;p17"/>
          <p:cNvGraphicFramePr/>
          <p:nvPr/>
        </p:nvGraphicFramePr>
        <p:xfrm>
          <a:off x="369875" y="443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{B0ED1E5F-F709-464F-AE79-A868952F3EB6}</a:tableStyleId>
              </a:tblPr>
              <a:tblGrid>
                <a:gridCol w="793050"/>
                <a:gridCol w="1474250"/>
                <a:gridCol w="1506475"/>
                <a:gridCol w="1506125"/>
                <a:gridCol w="1590950"/>
                <a:gridCol w="1533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Variable</a:t>
                      </a:r>
                      <a:endParaRPr b="1"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GDPC1</a:t>
                      </a:r>
                      <a:endParaRPr b="1"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UNRATE</a:t>
                      </a:r>
                      <a:endParaRPr b="1"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PPIACO</a:t>
                      </a:r>
                      <a:endParaRPr b="1"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CPIAUCSL</a:t>
                      </a:r>
                      <a:endParaRPr b="1"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FEDFUNDS</a:t>
                      </a:r>
                      <a:endParaRPr b="1"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Count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0.046220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0.022980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0.045775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0.045846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6.924649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0.434571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0.401909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0.524388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0.524239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3.459914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4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-0.020820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-0.833400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-0.049000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-0.014591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1.000000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4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0.003073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-0.200000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-0.005837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0.002008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4.171650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0.008312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-0.033300      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-0.000006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0.000000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6.365000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0.015784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0.133400         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0.007674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0.003472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8.950825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4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max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5.000000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2.000000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6.000000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6.000000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17.780000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4" name="Google Shape;94;p17"/>
          <p:cNvSpPr txBox="1"/>
          <p:nvPr/>
        </p:nvSpPr>
        <p:spPr>
          <a:xfrm>
            <a:off x="3244038" y="58575"/>
            <a:ext cx="2655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Descriptive Statistics for x-variables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7564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0" name="Google Shape;100;p18"/>
          <p:cNvGraphicFramePr/>
          <p:nvPr/>
        </p:nvGraphicFramePr>
        <p:xfrm>
          <a:off x="369875" y="41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{B0ED1E5F-F709-464F-AE79-A868952F3EB6}</a:tableStyleId>
              </a:tblPr>
              <a:tblGrid>
                <a:gridCol w="793050"/>
                <a:gridCol w="1474250"/>
                <a:gridCol w="1506475"/>
                <a:gridCol w="1506125"/>
                <a:gridCol w="1590950"/>
                <a:gridCol w="1533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Variable</a:t>
                      </a:r>
                      <a:endParaRPr b="1"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HOUST</a:t>
                      </a:r>
                      <a:endParaRPr b="1"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AMDMNOx</a:t>
                      </a:r>
                      <a:endParaRPr b="1"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TB3MS</a:t>
                      </a:r>
                      <a:endParaRPr b="1"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TB6MS</a:t>
                      </a:r>
                      <a:endParaRPr b="1"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GS1</a:t>
                      </a:r>
                      <a:endParaRPr b="1"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Count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0.034408        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157471.230705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6.247524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0.032803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0.033208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0.445484           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42581.596191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2.827154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0.868122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0.903193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4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-0.231094            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1.000000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1.000000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-3.633300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-3.650000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4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-0.066859        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130465.836850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4.227500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-0.354125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-0.358275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0.005946   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166869.148000  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5.711650 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0.081650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0.101700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0.061114       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193355.084750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7.750025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0.438350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0.467525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4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max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5.000000   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226344.007000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15.053300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3.910000      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3.703300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1" name="Google Shape;101;p18"/>
          <p:cNvSpPr txBox="1"/>
          <p:nvPr/>
        </p:nvSpPr>
        <p:spPr>
          <a:xfrm>
            <a:off x="3244038" y="31750"/>
            <a:ext cx="2655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Descriptive Statistics for x-variables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7564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7" name="Google Shape;107;p19"/>
          <p:cNvGraphicFramePr/>
          <p:nvPr/>
        </p:nvGraphicFramePr>
        <p:xfrm>
          <a:off x="1932038" y="403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{B0ED1E5F-F709-464F-AE79-A868952F3EB6}</a:tableStyleId>
              </a:tblPr>
              <a:tblGrid>
                <a:gridCol w="793050"/>
                <a:gridCol w="1474250"/>
                <a:gridCol w="1506475"/>
                <a:gridCol w="1506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Variable</a:t>
                      </a:r>
                      <a:endParaRPr b="1"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GS10                  </a:t>
                      </a:r>
                      <a:endParaRPr b="1"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BAA</a:t>
                      </a:r>
                      <a:endParaRPr b="1"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AAA</a:t>
                      </a:r>
                      <a:endParaRPr b="1"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Count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0.045076     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0.051616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0.050430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0.553594    </a:t>
                      </a: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0.468701    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0.456963 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4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4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-0.296700    </a:t>
                      </a: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-0.265800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-0.247450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8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0.021700   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-0.035000 </a:t>
                      </a: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-0.068350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0.220000       </a:t>
                      </a: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0.176700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0.179125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4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max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1.016600     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1.633300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0.840000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8" name="Google Shape;108;p19"/>
          <p:cNvSpPr txBox="1"/>
          <p:nvPr/>
        </p:nvSpPr>
        <p:spPr>
          <a:xfrm>
            <a:off x="3244038" y="18350"/>
            <a:ext cx="2655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Descriptive Statistics for x-variables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756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037" y="638975"/>
            <a:ext cx="7353926" cy="5205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2654700" y="183800"/>
            <a:ext cx="3834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Scatter Plots of GDPC1 against x-variables (Quarterly)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Modelling methods: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filtering and Data selection (Quarterly)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404040"/>
                </a:solidFill>
              </a:rPr>
              <a:t>1. Data Filtering and Feature Selection</a:t>
            </a:r>
            <a:endParaRPr b="1" sz="1200">
              <a:solidFill>
                <a:srgbClr val="404040"/>
              </a:solidFill>
            </a:endParaRPr>
          </a:p>
          <a:p>
            <a:pPr indent="-304800" lvl="0" marL="457200" rtl="0" algn="l">
              <a:spcBef>
                <a:spcPts val="20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b="1" lang="en-GB" sz="1200">
                <a:solidFill>
                  <a:srgbClr val="404040"/>
                </a:solidFill>
              </a:rPr>
              <a:t>Selected Variables:</a:t>
            </a:r>
            <a:br>
              <a:rPr b="1" lang="en-GB" sz="1200">
                <a:solidFill>
                  <a:srgbClr val="404040"/>
                </a:solidFill>
              </a:rPr>
            </a:br>
            <a:r>
              <a:rPr lang="en-GB" sz="1200">
                <a:solidFill>
                  <a:srgbClr val="404040"/>
                </a:solidFill>
              </a:rPr>
              <a:t>We filtered the dataset to include key economic indicators:</a:t>
            </a:r>
            <a:endParaRPr sz="1200">
              <a:solidFill>
                <a:srgbClr val="40404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○"/>
            </a:pPr>
            <a:r>
              <a:rPr b="1" lang="en-GB" sz="1200">
                <a:solidFill>
                  <a:srgbClr val="404040"/>
                </a:solidFill>
              </a:rPr>
              <a:t>Real GDP (</a:t>
            </a:r>
            <a:r>
              <a:rPr b="1" lang="en-GB" sz="1050">
                <a:solidFill>
                  <a:srgbClr val="404040"/>
                </a:solidFill>
                <a:latin typeface="Roboto Mono"/>
                <a:ea typeface="Roboto Mono"/>
                <a:cs typeface="Roboto Mono"/>
                <a:sym typeface="Roboto Mono"/>
              </a:rPr>
              <a:t>GDPC1</a:t>
            </a:r>
            <a:r>
              <a:rPr b="1" lang="en-GB" sz="1200">
                <a:solidFill>
                  <a:srgbClr val="404040"/>
                </a:solidFill>
              </a:rPr>
              <a:t>)</a:t>
            </a:r>
            <a:endParaRPr b="1" sz="1200">
              <a:solidFill>
                <a:srgbClr val="40404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○"/>
            </a:pPr>
            <a:r>
              <a:rPr b="1" lang="en-GB" sz="1200">
                <a:solidFill>
                  <a:srgbClr val="404040"/>
                </a:solidFill>
              </a:rPr>
              <a:t>Industrial Production (</a:t>
            </a:r>
            <a:r>
              <a:rPr b="1" lang="en-GB" sz="1050">
                <a:solidFill>
                  <a:srgbClr val="404040"/>
                </a:solidFill>
                <a:latin typeface="Roboto Mono"/>
                <a:ea typeface="Roboto Mono"/>
                <a:cs typeface="Roboto Mono"/>
                <a:sym typeface="Roboto Mono"/>
              </a:rPr>
              <a:t>INDPRO</a:t>
            </a:r>
            <a:r>
              <a:rPr b="1" lang="en-GB" sz="1200">
                <a:solidFill>
                  <a:srgbClr val="404040"/>
                </a:solidFill>
              </a:rPr>
              <a:t>)</a:t>
            </a:r>
            <a:endParaRPr b="1" sz="1200">
              <a:solidFill>
                <a:srgbClr val="40404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○"/>
            </a:pPr>
            <a:r>
              <a:rPr b="1" lang="en-GB" sz="1200">
                <a:solidFill>
                  <a:srgbClr val="404040"/>
                </a:solidFill>
              </a:rPr>
              <a:t>Unemployment Rate (</a:t>
            </a:r>
            <a:r>
              <a:rPr b="1" lang="en-GB" sz="1050">
                <a:solidFill>
                  <a:srgbClr val="404040"/>
                </a:solidFill>
                <a:latin typeface="Roboto Mono"/>
                <a:ea typeface="Roboto Mono"/>
                <a:cs typeface="Roboto Mono"/>
                <a:sym typeface="Roboto Mono"/>
              </a:rPr>
              <a:t>UNRATE</a:t>
            </a:r>
            <a:r>
              <a:rPr b="1" lang="en-GB" sz="1200">
                <a:solidFill>
                  <a:srgbClr val="404040"/>
                </a:solidFill>
              </a:rPr>
              <a:t>)</a:t>
            </a:r>
            <a:endParaRPr b="1" sz="1200">
              <a:solidFill>
                <a:srgbClr val="40404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○"/>
            </a:pPr>
            <a:r>
              <a:rPr b="1" lang="en-GB" sz="1200">
                <a:solidFill>
                  <a:srgbClr val="404040"/>
                </a:solidFill>
              </a:rPr>
              <a:t>Producer Price Index (</a:t>
            </a:r>
            <a:r>
              <a:rPr b="1" lang="en-GB" sz="1050">
                <a:solidFill>
                  <a:srgbClr val="404040"/>
                </a:solidFill>
                <a:latin typeface="Roboto Mono"/>
                <a:ea typeface="Roboto Mono"/>
                <a:cs typeface="Roboto Mono"/>
                <a:sym typeface="Roboto Mono"/>
              </a:rPr>
              <a:t>PPIACO</a:t>
            </a:r>
            <a:r>
              <a:rPr b="1" lang="en-GB" sz="1200">
                <a:solidFill>
                  <a:srgbClr val="404040"/>
                </a:solidFill>
              </a:rPr>
              <a:t>)</a:t>
            </a:r>
            <a:endParaRPr b="1" sz="1200">
              <a:solidFill>
                <a:srgbClr val="40404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○"/>
            </a:pPr>
            <a:r>
              <a:rPr b="1" lang="en-GB" sz="1200">
                <a:solidFill>
                  <a:srgbClr val="404040"/>
                </a:solidFill>
              </a:rPr>
              <a:t>Consumer Price Index (</a:t>
            </a:r>
            <a:r>
              <a:rPr b="1" lang="en-GB" sz="1050">
                <a:solidFill>
                  <a:srgbClr val="404040"/>
                </a:solidFill>
                <a:latin typeface="Roboto Mono"/>
                <a:ea typeface="Roboto Mono"/>
                <a:cs typeface="Roboto Mono"/>
                <a:sym typeface="Roboto Mono"/>
              </a:rPr>
              <a:t>CPIAUCSL</a:t>
            </a:r>
            <a:r>
              <a:rPr b="1" lang="en-GB" sz="1200">
                <a:solidFill>
                  <a:srgbClr val="404040"/>
                </a:solidFill>
              </a:rPr>
              <a:t>)</a:t>
            </a:r>
            <a:endParaRPr b="1" sz="1200">
              <a:solidFill>
                <a:srgbClr val="40404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○"/>
            </a:pPr>
            <a:r>
              <a:rPr b="1" lang="en-GB" sz="1200">
                <a:solidFill>
                  <a:srgbClr val="404040"/>
                </a:solidFill>
              </a:rPr>
              <a:t>Federal Funds Rate (</a:t>
            </a:r>
            <a:r>
              <a:rPr b="1" lang="en-GB" sz="1050">
                <a:solidFill>
                  <a:srgbClr val="404040"/>
                </a:solidFill>
                <a:latin typeface="Roboto Mono"/>
                <a:ea typeface="Roboto Mono"/>
                <a:cs typeface="Roboto Mono"/>
                <a:sym typeface="Roboto Mono"/>
              </a:rPr>
              <a:t>FEDFUNDS</a:t>
            </a:r>
            <a:r>
              <a:rPr b="1" lang="en-GB" sz="1200">
                <a:solidFill>
                  <a:srgbClr val="404040"/>
                </a:solidFill>
              </a:rPr>
              <a:t>)</a:t>
            </a:r>
            <a:endParaRPr b="1" sz="1200">
              <a:solidFill>
                <a:srgbClr val="40404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○"/>
            </a:pPr>
            <a:r>
              <a:rPr b="1" lang="en-GB" sz="1200">
                <a:solidFill>
                  <a:srgbClr val="404040"/>
                </a:solidFill>
              </a:rPr>
              <a:t>Housing Starts (</a:t>
            </a:r>
            <a:r>
              <a:rPr b="1" lang="en-GB" sz="1050">
                <a:solidFill>
                  <a:srgbClr val="404040"/>
                </a:solidFill>
                <a:latin typeface="Roboto Mono"/>
                <a:ea typeface="Roboto Mono"/>
                <a:cs typeface="Roboto Mono"/>
                <a:sym typeface="Roboto Mono"/>
              </a:rPr>
              <a:t>HOUST</a:t>
            </a:r>
            <a:r>
              <a:rPr b="1" lang="en-GB" sz="1200">
                <a:solidFill>
                  <a:srgbClr val="404040"/>
                </a:solidFill>
              </a:rPr>
              <a:t>)</a:t>
            </a:r>
            <a:endParaRPr b="1" sz="1200">
              <a:solidFill>
                <a:srgbClr val="40404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○"/>
            </a:pPr>
            <a:r>
              <a:rPr b="1" lang="en-GB" sz="1200">
                <a:solidFill>
                  <a:srgbClr val="404040"/>
                </a:solidFill>
              </a:rPr>
              <a:t>Manufacturing New Orders (</a:t>
            </a:r>
            <a:r>
              <a:rPr b="1" lang="en-GB" sz="1050">
                <a:solidFill>
                  <a:srgbClr val="404040"/>
                </a:solidFill>
                <a:latin typeface="Roboto Mono"/>
                <a:ea typeface="Roboto Mono"/>
                <a:cs typeface="Roboto Mono"/>
                <a:sym typeface="Roboto Mono"/>
              </a:rPr>
              <a:t>AMDMNOx</a:t>
            </a:r>
            <a:r>
              <a:rPr b="1" lang="en-GB" sz="1200">
                <a:solidFill>
                  <a:srgbClr val="404040"/>
                </a:solidFill>
              </a:rPr>
              <a:t>)</a:t>
            </a:r>
            <a:endParaRPr b="1" sz="1200">
              <a:solidFill>
                <a:srgbClr val="40404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○"/>
            </a:pPr>
            <a:r>
              <a:rPr b="1" lang="en-GB" sz="1200">
                <a:solidFill>
                  <a:srgbClr val="404040"/>
                </a:solidFill>
              </a:rPr>
              <a:t>Interest Rates (</a:t>
            </a:r>
            <a:r>
              <a:rPr b="1" lang="en-GB" sz="1050">
                <a:solidFill>
                  <a:srgbClr val="404040"/>
                </a:solidFill>
                <a:latin typeface="Roboto Mono"/>
                <a:ea typeface="Roboto Mono"/>
                <a:cs typeface="Roboto Mono"/>
                <a:sym typeface="Roboto Mono"/>
              </a:rPr>
              <a:t>TB3MS</a:t>
            </a:r>
            <a:r>
              <a:rPr b="1" lang="en-GB" sz="1200">
                <a:solidFill>
                  <a:srgbClr val="404040"/>
                </a:solidFill>
              </a:rPr>
              <a:t>, </a:t>
            </a:r>
            <a:r>
              <a:rPr b="1" lang="en-GB" sz="1050">
                <a:solidFill>
                  <a:srgbClr val="404040"/>
                </a:solidFill>
                <a:latin typeface="Roboto Mono"/>
                <a:ea typeface="Roboto Mono"/>
                <a:cs typeface="Roboto Mono"/>
                <a:sym typeface="Roboto Mono"/>
              </a:rPr>
              <a:t>TB6MS</a:t>
            </a:r>
            <a:r>
              <a:rPr b="1" lang="en-GB" sz="1200">
                <a:solidFill>
                  <a:srgbClr val="404040"/>
                </a:solidFill>
              </a:rPr>
              <a:t>, </a:t>
            </a:r>
            <a:r>
              <a:rPr b="1" lang="en-GB" sz="1050">
                <a:solidFill>
                  <a:srgbClr val="404040"/>
                </a:solidFill>
                <a:latin typeface="Roboto Mono"/>
                <a:ea typeface="Roboto Mono"/>
                <a:cs typeface="Roboto Mono"/>
                <a:sym typeface="Roboto Mono"/>
              </a:rPr>
              <a:t>GS1</a:t>
            </a:r>
            <a:r>
              <a:rPr b="1" lang="en-GB" sz="1200">
                <a:solidFill>
                  <a:srgbClr val="404040"/>
                </a:solidFill>
              </a:rPr>
              <a:t>, </a:t>
            </a:r>
            <a:r>
              <a:rPr b="1" lang="en-GB" sz="1050">
                <a:solidFill>
                  <a:srgbClr val="404040"/>
                </a:solidFill>
                <a:latin typeface="Roboto Mono"/>
                <a:ea typeface="Roboto Mono"/>
                <a:cs typeface="Roboto Mono"/>
                <a:sym typeface="Roboto Mono"/>
              </a:rPr>
              <a:t>GS10</a:t>
            </a:r>
            <a:r>
              <a:rPr b="1" lang="en-GB" sz="1200">
                <a:solidFill>
                  <a:srgbClr val="404040"/>
                </a:solidFill>
              </a:rPr>
              <a:t>)</a:t>
            </a:r>
            <a:endParaRPr b="1" sz="1200">
              <a:solidFill>
                <a:srgbClr val="40404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○"/>
            </a:pPr>
            <a:r>
              <a:rPr b="1" lang="en-GB" sz="1200">
                <a:solidFill>
                  <a:srgbClr val="404040"/>
                </a:solidFill>
              </a:rPr>
              <a:t>Corporate Bond Yields (</a:t>
            </a:r>
            <a:r>
              <a:rPr b="1" lang="en-GB" sz="1050">
                <a:solidFill>
                  <a:srgbClr val="404040"/>
                </a:solidFill>
                <a:latin typeface="Roboto Mono"/>
                <a:ea typeface="Roboto Mono"/>
                <a:cs typeface="Roboto Mono"/>
                <a:sym typeface="Roboto Mono"/>
              </a:rPr>
              <a:t>BAA</a:t>
            </a:r>
            <a:r>
              <a:rPr b="1" lang="en-GB" sz="1200">
                <a:solidFill>
                  <a:srgbClr val="404040"/>
                </a:solidFill>
              </a:rPr>
              <a:t>, </a:t>
            </a:r>
            <a:r>
              <a:rPr b="1" lang="en-GB" sz="1050">
                <a:solidFill>
                  <a:srgbClr val="404040"/>
                </a:solidFill>
                <a:latin typeface="Roboto Mono"/>
                <a:ea typeface="Roboto Mono"/>
                <a:cs typeface="Roboto Mono"/>
                <a:sym typeface="Roboto Mono"/>
              </a:rPr>
              <a:t>AAA</a:t>
            </a:r>
            <a:r>
              <a:rPr b="1" lang="en-GB" sz="1200">
                <a:solidFill>
                  <a:srgbClr val="404040"/>
                </a:solidFill>
              </a:rPr>
              <a:t>)</a:t>
            </a:r>
            <a:endParaRPr b="1" sz="1200">
              <a:solidFill>
                <a:srgbClr val="40404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en-GB" sz="1200">
                <a:solidFill>
                  <a:srgbClr val="404040"/>
                </a:solidFill>
              </a:rPr>
              <a:t>These variables were chosen based on their relevance to economic contractions and their correlations with GDP growth.</a:t>
            </a:r>
            <a:endParaRPr sz="120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Modelling methods: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filtering and Data selection (Monthly)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404040"/>
                </a:solidFill>
              </a:rPr>
              <a:t>1. Data Filtering and Feature Selection</a:t>
            </a:r>
            <a:endParaRPr b="1" sz="1200">
              <a:solidFill>
                <a:srgbClr val="404040"/>
              </a:solidFill>
            </a:endParaRPr>
          </a:p>
          <a:p>
            <a:pPr indent="-304800" lvl="0" marL="457200" rtl="0" algn="l">
              <a:spcBef>
                <a:spcPts val="20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b="1" lang="en-GB" sz="1200">
                <a:solidFill>
                  <a:srgbClr val="404040"/>
                </a:solidFill>
              </a:rPr>
              <a:t>Selected Variables:</a:t>
            </a:r>
            <a:br>
              <a:rPr b="1" lang="en-GB" sz="1200">
                <a:solidFill>
                  <a:srgbClr val="404040"/>
                </a:solidFill>
              </a:rPr>
            </a:br>
            <a:r>
              <a:rPr lang="en-GB" sz="1200">
                <a:solidFill>
                  <a:srgbClr val="404040"/>
                </a:solidFill>
              </a:rPr>
              <a:t>We filtered the dataset to include key economic indicators:</a:t>
            </a:r>
            <a:endParaRPr b="1" sz="1200">
              <a:solidFill>
                <a:srgbClr val="40404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○"/>
            </a:pPr>
            <a:r>
              <a:rPr b="1" lang="en-GB" sz="1200">
                <a:solidFill>
                  <a:srgbClr val="404040"/>
                </a:solidFill>
              </a:rPr>
              <a:t>Industrial Production (</a:t>
            </a:r>
            <a:r>
              <a:rPr b="1" lang="en-GB" sz="1050">
                <a:solidFill>
                  <a:srgbClr val="404040"/>
                </a:solidFill>
                <a:latin typeface="Roboto Mono"/>
                <a:ea typeface="Roboto Mono"/>
                <a:cs typeface="Roboto Mono"/>
                <a:sym typeface="Roboto Mono"/>
              </a:rPr>
              <a:t>INDPRO</a:t>
            </a:r>
            <a:r>
              <a:rPr b="1" lang="en-GB" sz="1200">
                <a:solidFill>
                  <a:srgbClr val="404040"/>
                </a:solidFill>
              </a:rPr>
              <a:t>)</a:t>
            </a:r>
            <a:endParaRPr b="1" sz="1200">
              <a:solidFill>
                <a:srgbClr val="40404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○"/>
            </a:pPr>
            <a:r>
              <a:rPr b="1" lang="en-GB" sz="1200">
                <a:solidFill>
                  <a:srgbClr val="404040"/>
                </a:solidFill>
              </a:rPr>
              <a:t>Unemployment Rate (</a:t>
            </a:r>
            <a:r>
              <a:rPr b="1" lang="en-GB" sz="1050">
                <a:solidFill>
                  <a:srgbClr val="404040"/>
                </a:solidFill>
                <a:latin typeface="Roboto Mono"/>
                <a:ea typeface="Roboto Mono"/>
                <a:cs typeface="Roboto Mono"/>
                <a:sym typeface="Roboto Mono"/>
              </a:rPr>
              <a:t>UNRATE</a:t>
            </a:r>
            <a:r>
              <a:rPr b="1" lang="en-GB" sz="1200">
                <a:solidFill>
                  <a:srgbClr val="404040"/>
                </a:solidFill>
              </a:rPr>
              <a:t>)</a:t>
            </a:r>
            <a:endParaRPr b="1" sz="1200">
              <a:solidFill>
                <a:srgbClr val="40404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○"/>
            </a:pPr>
            <a:r>
              <a:rPr b="1" lang="en-GB" sz="1200">
                <a:solidFill>
                  <a:srgbClr val="404040"/>
                </a:solidFill>
              </a:rPr>
              <a:t>Consumer Price Index (</a:t>
            </a:r>
            <a:r>
              <a:rPr b="1" lang="en-GB" sz="1050">
                <a:solidFill>
                  <a:srgbClr val="404040"/>
                </a:solidFill>
                <a:latin typeface="Roboto Mono"/>
                <a:ea typeface="Roboto Mono"/>
                <a:cs typeface="Roboto Mono"/>
                <a:sym typeface="Roboto Mono"/>
              </a:rPr>
              <a:t>CPIAUCSL</a:t>
            </a:r>
            <a:r>
              <a:rPr b="1" lang="en-GB" sz="1200">
                <a:solidFill>
                  <a:srgbClr val="404040"/>
                </a:solidFill>
              </a:rPr>
              <a:t>)</a:t>
            </a:r>
            <a:endParaRPr b="1" sz="1200">
              <a:solidFill>
                <a:srgbClr val="40404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○"/>
            </a:pPr>
            <a:r>
              <a:rPr b="1" lang="en-GB" sz="1200">
                <a:solidFill>
                  <a:srgbClr val="404040"/>
                </a:solidFill>
              </a:rPr>
              <a:t>Federal Funds Rate (</a:t>
            </a:r>
            <a:r>
              <a:rPr b="1" lang="en-GB" sz="1050">
                <a:solidFill>
                  <a:srgbClr val="404040"/>
                </a:solidFill>
                <a:latin typeface="Roboto Mono"/>
                <a:ea typeface="Roboto Mono"/>
                <a:cs typeface="Roboto Mono"/>
                <a:sym typeface="Roboto Mono"/>
              </a:rPr>
              <a:t>FEDFUNDS</a:t>
            </a:r>
            <a:r>
              <a:rPr b="1" lang="en-GB" sz="1200">
                <a:solidFill>
                  <a:srgbClr val="404040"/>
                </a:solidFill>
              </a:rPr>
              <a:t>)</a:t>
            </a:r>
            <a:endParaRPr b="1" sz="1200">
              <a:solidFill>
                <a:srgbClr val="40404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○"/>
            </a:pPr>
            <a:r>
              <a:rPr b="1" lang="en-GB" sz="1200">
                <a:solidFill>
                  <a:srgbClr val="404040"/>
                </a:solidFill>
              </a:rPr>
              <a:t>Housing Starts (</a:t>
            </a:r>
            <a:r>
              <a:rPr b="1" lang="en-GB" sz="1050">
                <a:solidFill>
                  <a:srgbClr val="404040"/>
                </a:solidFill>
                <a:latin typeface="Roboto Mono"/>
                <a:ea typeface="Roboto Mono"/>
                <a:cs typeface="Roboto Mono"/>
                <a:sym typeface="Roboto Mono"/>
              </a:rPr>
              <a:t>HOUST</a:t>
            </a:r>
            <a:r>
              <a:rPr b="1" lang="en-GB" sz="1200">
                <a:solidFill>
                  <a:srgbClr val="404040"/>
                </a:solidFill>
              </a:rPr>
              <a:t>)</a:t>
            </a:r>
            <a:endParaRPr b="1" sz="1200">
              <a:solidFill>
                <a:srgbClr val="40404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○"/>
            </a:pPr>
            <a:r>
              <a:rPr b="1" lang="en-GB" sz="1200">
                <a:solidFill>
                  <a:srgbClr val="404040"/>
                </a:solidFill>
              </a:rPr>
              <a:t>Manufacturing New Orders (</a:t>
            </a:r>
            <a:r>
              <a:rPr b="1" lang="en-GB" sz="1050">
                <a:solidFill>
                  <a:srgbClr val="404040"/>
                </a:solidFill>
                <a:latin typeface="Roboto Mono"/>
                <a:ea typeface="Roboto Mono"/>
                <a:cs typeface="Roboto Mono"/>
                <a:sym typeface="Roboto Mono"/>
              </a:rPr>
              <a:t>AMDMNOx</a:t>
            </a:r>
            <a:r>
              <a:rPr b="1" lang="en-GB" sz="1200">
                <a:solidFill>
                  <a:srgbClr val="404040"/>
                </a:solidFill>
              </a:rPr>
              <a:t>)</a:t>
            </a:r>
            <a:endParaRPr b="1" sz="1200">
              <a:solidFill>
                <a:srgbClr val="40404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○"/>
            </a:pPr>
            <a:r>
              <a:rPr b="1" lang="en-GB" sz="1200">
                <a:solidFill>
                  <a:srgbClr val="404040"/>
                </a:solidFill>
              </a:rPr>
              <a:t>Interest Rates (</a:t>
            </a:r>
            <a:r>
              <a:rPr b="1" lang="en-GB" sz="1050">
                <a:solidFill>
                  <a:srgbClr val="404040"/>
                </a:solidFill>
                <a:latin typeface="Roboto Mono"/>
                <a:ea typeface="Roboto Mono"/>
                <a:cs typeface="Roboto Mono"/>
                <a:sym typeface="Roboto Mono"/>
              </a:rPr>
              <a:t>TB3MS</a:t>
            </a:r>
            <a:r>
              <a:rPr b="1" lang="en-GB" sz="1200">
                <a:solidFill>
                  <a:srgbClr val="404040"/>
                </a:solidFill>
              </a:rPr>
              <a:t>, </a:t>
            </a:r>
            <a:r>
              <a:rPr b="1" lang="en-GB" sz="1050">
                <a:solidFill>
                  <a:srgbClr val="404040"/>
                </a:solidFill>
                <a:latin typeface="Roboto Mono"/>
                <a:ea typeface="Roboto Mono"/>
                <a:cs typeface="Roboto Mono"/>
                <a:sym typeface="Roboto Mono"/>
              </a:rPr>
              <a:t>TB6MS</a:t>
            </a:r>
            <a:r>
              <a:rPr b="1" lang="en-GB" sz="1200">
                <a:solidFill>
                  <a:srgbClr val="404040"/>
                </a:solidFill>
              </a:rPr>
              <a:t>, </a:t>
            </a:r>
            <a:r>
              <a:rPr b="1" lang="en-GB" sz="1050">
                <a:solidFill>
                  <a:srgbClr val="404040"/>
                </a:solidFill>
                <a:latin typeface="Roboto Mono"/>
                <a:ea typeface="Roboto Mono"/>
                <a:cs typeface="Roboto Mono"/>
                <a:sym typeface="Roboto Mono"/>
              </a:rPr>
              <a:t>GS1</a:t>
            </a:r>
            <a:r>
              <a:rPr b="1" lang="en-GB" sz="1200">
                <a:solidFill>
                  <a:srgbClr val="404040"/>
                </a:solidFill>
              </a:rPr>
              <a:t>, </a:t>
            </a:r>
            <a:r>
              <a:rPr b="1" lang="en-GB" sz="1050">
                <a:solidFill>
                  <a:srgbClr val="404040"/>
                </a:solidFill>
                <a:latin typeface="Roboto Mono"/>
                <a:ea typeface="Roboto Mono"/>
                <a:cs typeface="Roboto Mono"/>
                <a:sym typeface="Roboto Mono"/>
              </a:rPr>
              <a:t>GS10</a:t>
            </a:r>
            <a:r>
              <a:rPr b="1" lang="en-GB" sz="1200">
                <a:solidFill>
                  <a:srgbClr val="404040"/>
                </a:solidFill>
              </a:rPr>
              <a:t>)</a:t>
            </a:r>
            <a:endParaRPr b="1" sz="1200">
              <a:solidFill>
                <a:srgbClr val="40404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○"/>
            </a:pPr>
            <a:r>
              <a:rPr b="1" lang="en-GB" sz="1200">
                <a:solidFill>
                  <a:srgbClr val="404040"/>
                </a:solidFill>
              </a:rPr>
              <a:t>Corporate Bond Yields (</a:t>
            </a:r>
            <a:r>
              <a:rPr b="1" lang="en-GB" sz="1050">
                <a:solidFill>
                  <a:srgbClr val="404040"/>
                </a:solidFill>
                <a:latin typeface="Roboto Mono"/>
                <a:ea typeface="Roboto Mono"/>
                <a:cs typeface="Roboto Mono"/>
                <a:sym typeface="Roboto Mono"/>
              </a:rPr>
              <a:t>BAA</a:t>
            </a:r>
            <a:r>
              <a:rPr b="1" lang="en-GB" sz="1200">
                <a:solidFill>
                  <a:srgbClr val="404040"/>
                </a:solidFill>
              </a:rPr>
              <a:t>, </a:t>
            </a:r>
            <a:r>
              <a:rPr b="1" lang="en-GB" sz="1050">
                <a:solidFill>
                  <a:srgbClr val="404040"/>
                </a:solidFill>
                <a:latin typeface="Roboto Mono"/>
                <a:ea typeface="Roboto Mono"/>
                <a:cs typeface="Roboto Mono"/>
                <a:sym typeface="Roboto Mono"/>
              </a:rPr>
              <a:t>AAA</a:t>
            </a:r>
            <a:r>
              <a:rPr b="1" lang="en-GB" sz="1200">
                <a:solidFill>
                  <a:srgbClr val="404040"/>
                </a:solidFill>
              </a:rPr>
              <a:t>)</a:t>
            </a:r>
            <a:endParaRPr b="1" sz="1200">
              <a:solidFill>
                <a:srgbClr val="40404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en-GB" sz="1200">
                <a:solidFill>
                  <a:srgbClr val="404040"/>
                </a:solidFill>
              </a:rPr>
              <a:t>In monthly dataset, there is no </a:t>
            </a:r>
            <a:r>
              <a:rPr b="1" lang="en-GB" sz="1200">
                <a:solidFill>
                  <a:srgbClr val="404040"/>
                </a:solidFill>
              </a:rPr>
              <a:t>GDPC1</a:t>
            </a:r>
            <a:r>
              <a:rPr lang="en-GB" sz="1200">
                <a:solidFill>
                  <a:srgbClr val="404040"/>
                </a:solidFill>
              </a:rPr>
              <a:t> and </a:t>
            </a:r>
            <a:r>
              <a:rPr b="1" lang="en-GB" sz="1200">
                <a:solidFill>
                  <a:srgbClr val="404040"/>
                </a:solidFill>
              </a:rPr>
              <a:t>PPIACO</a:t>
            </a:r>
            <a:r>
              <a:rPr lang="en-GB" sz="1200">
                <a:solidFill>
                  <a:srgbClr val="404040"/>
                </a:solidFill>
              </a:rPr>
              <a:t>. Hence, we retained all the other variables used for quarterly analysis except for these two. </a:t>
            </a:r>
            <a:endParaRPr sz="120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Modelling methods: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Change</a:t>
            </a:r>
            <a:r>
              <a:rPr lang="en-GB"/>
              <a:t> of model (Monthly)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200">
                <a:solidFill>
                  <a:srgbClr val="404040"/>
                </a:solidFill>
              </a:rPr>
              <a:t>Due to the absence of the GDPC1 variable in the monthly data, we chose another variable which is INDPRO to be our y-variable, as we found that it is more closely correlated with GDPC1, compared to our other selected x-variables.</a:t>
            </a:r>
            <a:endParaRPr sz="120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0404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en-GB" sz="1200">
                <a:solidFill>
                  <a:srgbClr val="404040"/>
                </a:solidFill>
              </a:rPr>
              <a:t>We then plan to use the INDPRO y-variable to predict whether there is an economic downturn in the short-term within the 3 quarters.</a:t>
            </a:r>
            <a:endParaRPr sz="1200">
              <a:solidFill>
                <a:srgbClr val="40404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404040"/>
              </a:solidFill>
            </a:endParaRPr>
          </a:p>
        </p:txBody>
      </p:sp>
      <p:pic>
        <p:nvPicPr>
          <p:cNvPr id="134" name="Google Shape;134;p23"/>
          <p:cNvPicPr preferRelativeResize="0"/>
          <p:nvPr/>
        </p:nvPicPr>
        <p:blipFill rotWithShape="1">
          <a:blip r:embed="rId3">
            <a:alphaModFix/>
          </a:blip>
          <a:srcRect b="74945" l="0" r="74502" t="0"/>
          <a:stretch/>
        </p:blipFill>
        <p:spPr>
          <a:xfrm>
            <a:off x="5198075" y="1625388"/>
            <a:ext cx="2659501" cy="1849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Modelling methods: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Autoregressive Distributed Lag (ADL)</a:t>
            </a:r>
            <a:endParaRPr/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b="1" lang="en-GB" sz="1200">
                <a:solidFill>
                  <a:srgbClr val="404040"/>
                </a:solidFill>
              </a:rPr>
              <a:t>Why ADL?</a:t>
            </a:r>
            <a:endParaRPr b="1" sz="1200">
              <a:solidFill>
                <a:srgbClr val="40404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○"/>
            </a:pPr>
            <a:r>
              <a:rPr lang="en-GB" sz="1200">
                <a:solidFill>
                  <a:srgbClr val="404040"/>
                </a:solidFill>
              </a:rPr>
              <a:t>ADL models are well-suited for capturing dynamic relationships between economic variables over time.</a:t>
            </a:r>
            <a:endParaRPr sz="1200">
              <a:solidFill>
                <a:srgbClr val="40404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○"/>
            </a:pPr>
            <a:r>
              <a:rPr lang="en-GB" sz="1200">
                <a:solidFill>
                  <a:srgbClr val="404040"/>
                </a:solidFill>
              </a:rPr>
              <a:t>They allow for both lagged dependent variables (e.g., past GDP) and lagged independent variables (e.g., unemployment rate, inflation).</a:t>
            </a:r>
            <a:endParaRPr sz="1200">
              <a:solidFill>
                <a:srgbClr val="40404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b="1" lang="en-GB" sz="1200">
                <a:solidFill>
                  <a:srgbClr val="404040"/>
                </a:solidFill>
              </a:rPr>
              <a:t>Optimal Lag Selection:</a:t>
            </a:r>
            <a:endParaRPr b="1" sz="1200">
              <a:solidFill>
                <a:srgbClr val="40404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○"/>
            </a:pPr>
            <a:r>
              <a:rPr lang="en-GB" sz="1200">
                <a:solidFill>
                  <a:srgbClr val="404040"/>
                </a:solidFill>
              </a:rPr>
              <a:t>Used the Bayesian information criterion (BIC) to determine the optimal number of lags.</a:t>
            </a:r>
            <a:endParaRPr sz="1200">
              <a:solidFill>
                <a:srgbClr val="40404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○"/>
            </a:pPr>
            <a:r>
              <a:rPr lang="en-GB" sz="1200">
                <a:solidFill>
                  <a:srgbClr val="404040"/>
                </a:solidFill>
              </a:rPr>
              <a:t>We implemented BIC on each </a:t>
            </a:r>
            <a:r>
              <a:rPr lang="en-GB" sz="1200">
                <a:solidFill>
                  <a:srgbClr val="404040"/>
                </a:solidFill>
              </a:rPr>
              <a:t>variable and found that the optimal number of lags for all the variables is 1. </a:t>
            </a:r>
            <a:endParaRPr sz="1200">
              <a:solidFill>
                <a:srgbClr val="40404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○"/>
            </a:pPr>
            <a:r>
              <a:rPr lang="en-GB" sz="1200">
                <a:solidFill>
                  <a:srgbClr val="404040"/>
                </a:solidFill>
                <a:highlight>
                  <a:srgbClr val="FFFFFF"/>
                </a:highlight>
              </a:rPr>
              <a:t>We chose BIC over AIC because when dealing with large datasets, BIC is preferred due to its tendency to select simpler models with fewer parameters, reducing the risk of overfitting. </a:t>
            </a:r>
            <a:endParaRPr sz="120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Modelling methods: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Root Mean Squared Forecast Error (RMSFE)</a:t>
            </a:r>
            <a:endParaRPr/>
          </a:p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b="1" lang="en-GB" sz="1200">
                <a:solidFill>
                  <a:srgbClr val="404040"/>
                </a:solidFill>
              </a:rPr>
              <a:t>Evaluation Metric:</a:t>
            </a:r>
            <a:endParaRPr b="1" sz="1200">
              <a:solidFill>
                <a:srgbClr val="40404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○"/>
            </a:pPr>
            <a:r>
              <a:rPr lang="en-GB" sz="1200">
                <a:solidFill>
                  <a:srgbClr val="404040"/>
                </a:solidFill>
              </a:rPr>
              <a:t>RMSFE was calculated to assess the accuracy of our forecasts.</a:t>
            </a:r>
            <a:endParaRPr sz="1200">
              <a:solidFill>
                <a:srgbClr val="40404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○"/>
            </a:pPr>
            <a:r>
              <a:rPr lang="en-GB" sz="1200">
                <a:solidFill>
                  <a:srgbClr val="404040"/>
                </a:solidFill>
              </a:rPr>
              <a:t>It is a measure of the magnitude of a forecasting mistake. </a:t>
            </a:r>
            <a:endParaRPr sz="1200">
              <a:solidFill>
                <a:srgbClr val="40404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○"/>
            </a:pPr>
            <a:r>
              <a:rPr lang="en-GB" sz="1200">
                <a:solidFill>
                  <a:srgbClr val="404040"/>
                </a:solidFill>
              </a:rPr>
              <a:t>We selected RMSFE instead of MSFE because the error provided is in the same units as the original GDP variable, allowing for easier interpretation. </a:t>
            </a:r>
            <a:endParaRPr sz="1200">
              <a:solidFill>
                <a:srgbClr val="40404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○"/>
            </a:pPr>
            <a:r>
              <a:rPr lang="en-GB" sz="1200">
                <a:solidFill>
                  <a:srgbClr val="404040"/>
                </a:solidFill>
              </a:rPr>
              <a:t>We obtained a RMSFE of 0.00195, which is quite small compared to the values of the GDP, hence the model is relatively accurate.</a:t>
            </a:r>
            <a:endParaRPr sz="120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Modelling methods: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Improvements</a:t>
            </a:r>
            <a:endParaRPr/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b="1" lang="en-GB" sz="1200">
                <a:solidFill>
                  <a:srgbClr val="404040"/>
                </a:solidFill>
              </a:rPr>
              <a:t>Recursive cross-validation  </a:t>
            </a:r>
            <a:endParaRPr b="1" sz="1200">
              <a:solidFill>
                <a:srgbClr val="40404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○"/>
            </a:pPr>
            <a:r>
              <a:rPr lang="en-GB" sz="1200">
                <a:solidFill>
                  <a:srgbClr val="404040"/>
                </a:solidFill>
              </a:rPr>
              <a:t>A time-series validation technique where the model is trained on an expanding window of data and tested on a fixed horizon.</a:t>
            </a:r>
            <a:endParaRPr sz="1200">
              <a:solidFill>
                <a:srgbClr val="40404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○"/>
            </a:pPr>
            <a:r>
              <a:rPr lang="en-GB" sz="1200">
                <a:solidFill>
                  <a:srgbClr val="404040"/>
                </a:solidFill>
              </a:rPr>
              <a:t>Better simulates real-world forecasting, where models are updated as new data becomes available.</a:t>
            </a:r>
            <a:endParaRPr sz="120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results</a:t>
            </a:r>
            <a:endParaRPr/>
          </a:p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Best AIC (Quarterly):</a:t>
            </a:r>
            <a:r>
              <a:rPr lang="en-GB">
                <a:solidFill>
                  <a:schemeClr val="dk1"/>
                </a:solidFill>
              </a:rPr>
              <a:t> </a:t>
            </a:r>
            <a:r>
              <a:rPr lang="en-GB">
                <a:solidFill>
                  <a:schemeClr val="dk1"/>
                </a:solidFill>
              </a:rPr>
              <a:t>-1990.53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Best BIC (Quarterly):</a:t>
            </a:r>
            <a:r>
              <a:rPr lang="en-GB">
                <a:solidFill>
                  <a:schemeClr val="dk1"/>
                </a:solidFill>
              </a:rPr>
              <a:t> -1868.57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Best lag for GDP from BIC (Quarterly):</a:t>
            </a:r>
            <a:r>
              <a:rPr lang="en-GB">
                <a:solidFill>
                  <a:schemeClr val="dk1"/>
                </a:solidFill>
              </a:rPr>
              <a:t> 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Best lag for x-variables from BIC (Quarterly):</a:t>
            </a:r>
            <a:r>
              <a:rPr lang="en-GB">
                <a:solidFill>
                  <a:schemeClr val="dk1"/>
                </a:solidFill>
              </a:rPr>
              <a:t> 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RMSFE:</a:t>
            </a:r>
            <a:r>
              <a:rPr lang="en-GB">
                <a:solidFill>
                  <a:schemeClr val="dk1"/>
                </a:solidFill>
              </a:rPr>
              <a:t> 0.00195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results</a:t>
            </a:r>
            <a:endParaRPr/>
          </a:p>
        </p:txBody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4644675" y="406850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GB"/>
              <a:t>Forecasted value for Q1, 2025: </a:t>
            </a:r>
            <a:r>
              <a:rPr lang="en-GB"/>
              <a:t>-0.29% </a:t>
            </a:r>
            <a:br>
              <a:rPr lang="en-GB"/>
            </a:br>
            <a:r>
              <a:rPr lang="en-GB"/>
              <a:t>(log difference: -0.002909)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GB"/>
              <a:t>Forecasted value for Q2, 2025: </a:t>
            </a:r>
            <a:r>
              <a:rPr lang="en-GB"/>
              <a:t>-0.29% </a:t>
            </a:r>
            <a:br>
              <a:rPr lang="en-GB"/>
            </a:br>
            <a:r>
              <a:rPr lang="en-GB"/>
              <a:t>(log difference: -0.002909)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GB"/>
              <a:t>Forecasted value for Q4, 2025: </a:t>
            </a:r>
            <a:r>
              <a:rPr lang="en-GB"/>
              <a:t>-0.29% </a:t>
            </a:r>
            <a:br>
              <a:rPr lang="en-GB"/>
            </a:br>
            <a:r>
              <a:rPr lang="en-GB"/>
              <a:t>(log difference: -0.002909)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We conclude that an economic contraction is likely to occur at all of the above forecast horizons. </a:t>
            </a:r>
            <a:endParaRPr/>
          </a:p>
        </p:txBody>
      </p:sp>
      <p:pic>
        <p:nvPicPr>
          <p:cNvPr id="165" name="Google Shape;16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7114" y="2571750"/>
            <a:ext cx="4601525" cy="228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